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0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3c8f6e5b-83bf-94f6-2439-4968a77ae61e}">
          <p14:sldIdLst>
            <p14:sldId id="256"/>
          </p14:sldIdLst>
        </p14:section>
        <p14:section name="Visão geral" id="{c5d614d1-0041-20cd-e03e-44686e6d7b06}">
          <p14:sldIdLst>
            <p14:sldId id="257"/>
            <p14:sldId id="258"/>
            <p14:sldId id="259"/>
          </p14:sldIdLst>
        </p14:section>
        <p14:section name="Filiais" id="{8bebc79d-a1fc-348c-f42c-8e5196bfb1f4}">
          <p14:sldIdLst>
            <p14:sldId id="260"/>
          </p14:sldIdLst>
        </p14:section>
        <p14:section name="Perguntas" id="{6b16d360-c240-7626-2867-75126bed0a45}">
          <p14:sldIdLst>
            <p14:sldId id="261"/>
            <p14:sldId id="262"/>
            <p14:sldId id="263"/>
          </p14:sldIdLst>
        </p14:section>
        <p14:section name="Comentários" id="{2663bbe7-de3f-df4a-81b2-01dd25b06e25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7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A37"/>
                </a:solidFill>
                <a:latin typeface="Calibri"/>
              </a:rPr>
              <a:t>Composição das notas</a:t>
            </a:r>
          </a:p>
        </c:rich>
      </c:tx>
      <c:layout/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1B8A5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Composição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0.4791666666666667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Neutros</c:v>
                </c:pt>
              </c:strCache>
            </c:strRef>
          </c:tx>
          <c:spPr>
            <a:solidFill>
              <a:srgbClr val="B8C2CC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Composição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0.3145833333333333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Detratores</c:v>
                </c:pt>
              </c:strCache>
            </c:strRef>
          </c:tx>
          <c:spPr>
            <a:solidFill>
              <a:srgbClr val="D93F4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Composição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0.20625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Detratores (0–6)</c:v>
                </c:pt>
              </c:strCache>
            </c:strRef>
          </c:tx>
          <c:spPr>
            <a:solidFill>
              <a:srgbClr val="D93F4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14</c:v>
                </c:pt>
                <c:pt idx="2">
                  <c:v>16</c:v>
                </c:pt>
                <c:pt idx="3">
                  <c:v>27</c:v>
                </c:pt>
                <c:pt idx="4">
                  <c:v>45</c:v>
                </c:pt>
                <c:pt idx="5">
                  <c:v>45</c:v>
                </c:pt>
                <c:pt idx="6">
                  <c:v>51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Neutros (7–8)</c:v>
                </c:pt>
              </c:strCache>
            </c:strRef>
          </c:tx>
          <c:spPr>
            <a:solidFill>
              <a:srgbClr val="B8C2CC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124</c:v>
                </c:pt>
                <c:pt idx="8">
                  <c:v>178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 (9–10)</c:v>
                </c:pt>
              </c:strCache>
            </c:strRef>
          </c:tx>
          <c:spPr>
            <a:solidFill>
              <a:srgbClr val="1B8A5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229</c:v>
                </c:pt>
                <c:pt idx="10">
                  <c:v>231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7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A37"/>
                </a:solidFill>
                <a:latin typeface="Calibri"/>
              </a:rPr>
              <a:t>NPS por dia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</c:v>
                </c:pt>
              </c:strCache>
            </c:strRef>
          </c:tx>
          <c:spPr>
            <a:solidFill>
              <a:srgbClr val="0F3D5E"/>
            </a:solidFill>
            <a:ln w="31750" cap="flat">
              <a:solidFill>
                <a:srgbClr val="0F3D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3D5E"/>
              </a:solidFill>
              <a:ln w="9525" cap="flat">
                <a:solidFill>
                  <a:srgbClr val="0F3D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04/09</c:v>
                  </c:pt>
                  <c:pt idx="1">
                    <c:v>05/09</c:v>
                  </c:pt>
                  <c:pt idx="2">
                    <c:v>06/09</c:v>
                  </c:pt>
                  <c:pt idx="3">
                    <c:v>07/09</c:v>
                  </c:pt>
                  <c:pt idx="4">
                    <c:v>08/09</c:v>
                  </c:pt>
                  <c:pt idx="5">
                    <c:v>09/09</c:v>
                  </c:pt>
                  <c:pt idx="6">
                    <c:v>10/09</c:v>
                  </c:pt>
                  <c:pt idx="7">
                    <c:v>11/09</c:v>
                  </c:pt>
                  <c:pt idx="8">
                    <c:v>12/09</c:v>
                  </c:pt>
                  <c:pt idx="9">
                    <c:v>13/09</c:v>
                  </c:pt>
                  <c:pt idx="10">
                    <c:v>14/09</c:v>
                  </c:pt>
                  <c:pt idx="11">
                    <c:v>15/09</c:v>
                  </c:pt>
                  <c:pt idx="12">
                    <c:v>16/09</c:v>
                  </c:pt>
                  <c:pt idx="13">
                    <c:v>17/09</c:v>
                  </c:pt>
                  <c:pt idx="14">
                    <c:v>18/09</c:v>
                  </c:pt>
                  <c:pt idx="15">
                    <c:v>19/09</c:v>
                  </c:pt>
                  <c:pt idx="16">
                    <c:v>20/09</c:v>
                  </c:pt>
                  <c:pt idx="17">
                    <c:v>21/09</c:v>
                  </c:pt>
                  <c:pt idx="18">
                    <c:v>22/09</c:v>
                  </c:pt>
                  <c:pt idx="19">
                    <c:v>23/09</c:v>
                  </c:pt>
                  <c:pt idx="20">
                    <c:v>24/09</c:v>
                  </c:pt>
                  <c:pt idx="21">
                    <c:v>25/09</c:v>
                  </c:pt>
                  <c:pt idx="22">
                    <c:v>26/09</c:v>
                  </c:pt>
                  <c:pt idx="23">
                    <c:v>27/09</c:v>
                  </c:pt>
                  <c:pt idx="24">
                    <c:v>28/09</c:v>
                  </c:pt>
                  <c:pt idx="25">
                    <c:v>29/09</c:v>
                  </c:pt>
                  <c:pt idx="26">
                    <c:v>30/09</c:v>
                  </c:pt>
                  <c:pt idx="27">
                    <c:v>01/10</c:v>
                  </c:pt>
                  <c:pt idx="28">
                    <c:v>02/10</c:v>
                  </c:pt>
                  <c:pt idx="29">
                    <c:v>03/10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40</c:v>
                </c:pt>
                <c:pt idx="1">
                  <c:v>32.1</c:v>
                </c:pt>
                <c:pt idx="2">
                  <c:v>5</c:v>
                </c:pt>
                <c:pt idx="3">
                  <c:v>36.1</c:v>
                </c:pt>
                <c:pt idx="4">
                  <c:v>-32.1</c:v>
                </c:pt>
                <c:pt idx="5">
                  <c:v>25</c:v>
                </c:pt>
                <c:pt idx="6">
                  <c:v>5</c:v>
                </c:pt>
                <c:pt idx="7">
                  <c:v>44.1</c:v>
                </c:pt>
                <c:pt idx="8">
                  <c:v>33.3</c:v>
                </c:pt>
                <c:pt idx="9">
                  <c:v>20.4</c:v>
                </c:pt>
                <c:pt idx="10">
                  <c:v>31.6</c:v>
                </c:pt>
                <c:pt idx="11">
                  <c:v>55.3</c:v>
                </c:pt>
                <c:pt idx="12">
                  <c:v>-14.3</c:v>
                </c:pt>
                <c:pt idx="13">
                  <c:v>55</c:v>
                </c:pt>
                <c:pt idx="14">
                  <c:v>23.7</c:v>
                </c:pt>
                <c:pt idx="15">
                  <c:v>42.3</c:v>
                </c:pt>
                <c:pt idx="16">
                  <c:v>31.3</c:v>
                </c:pt>
                <c:pt idx="17">
                  <c:v>35</c:v>
                </c:pt>
                <c:pt idx="18">
                  <c:v>-3.1</c:v>
                </c:pt>
                <c:pt idx="19">
                  <c:v>31</c:v>
                </c:pt>
                <c:pt idx="20">
                  <c:v>44.1</c:v>
                </c:pt>
                <c:pt idx="21">
                  <c:v>41.7</c:v>
                </c:pt>
                <c:pt idx="22">
                  <c:v>25</c:v>
                </c:pt>
                <c:pt idx="23">
                  <c:v>42.5</c:v>
                </c:pt>
                <c:pt idx="24">
                  <c:v>22</c:v>
                </c:pt>
                <c:pt idx="25">
                  <c:v>41.7</c:v>
                </c:pt>
                <c:pt idx="26">
                  <c:v>8.3</c:v>
                </c:pt>
                <c:pt idx="27">
                  <c:v>19.2</c:v>
                </c:pt>
                <c:pt idx="28">
                  <c:v>34.6</c:v>
                </c:pt>
                <c:pt idx="29">
                  <c:v>-8.3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-10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7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A37"/>
                </a:solidFill>
                <a:latin typeface="Calibri"/>
              </a:rPr>
              <a:t>Respostas por dia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Respostas</c:v>
                </c:pt>
              </c:strCache>
            </c:strRef>
          </c:tx>
          <c:spPr>
            <a:solidFill>
              <a:srgbClr val="FFD1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04/09</c:v>
                  </c:pt>
                  <c:pt idx="1">
                    <c:v>05/09</c:v>
                  </c:pt>
                  <c:pt idx="2">
                    <c:v>06/09</c:v>
                  </c:pt>
                  <c:pt idx="3">
                    <c:v>07/09</c:v>
                  </c:pt>
                  <c:pt idx="4">
                    <c:v>08/09</c:v>
                  </c:pt>
                  <c:pt idx="5">
                    <c:v>09/09</c:v>
                  </c:pt>
                  <c:pt idx="6">
                    <c:v>10/09</c:v>
                  </c:pt>
                  <c:pt idx="7">
                    <c:v>11/09</c:v>
                  </c:pt>
                  <c:pt idx="8">
                    <c:v>12/09</c:v>
                  </c:pt>
                  <c:pt idx="9">
                    <c:v>13/09</c:v>
                  </c:pt>
                  <c:pt idx="10">
                    <c:v>14/09</c:v>
                  </c:pt>
                  <c:pt idx="11">
                    <c:v>15/09</c:v>
                  </c:pt>
                  <c:pt idx="12">
                    <c:v>16/09</c:v>
                  </c:pt>
                  <c:pt idx="13">
                    <c:v>17/09</c:v>
                  </c:pt>
                  <c:pt idx="14">
                    <c:v>18/09</c:v>
                  </c:pt>
                  <c:pt idx="15">
                    <c:v>19/09</c:v>
                  </c:pt>
                  <c:pt idx="16">
                    <c:v>20/09</c:v>
                  </c:pt>
                  <c:pt idx="17">
                    <c:v>21/09</c:v>
                  </c:pt>
                  <c:pt idx="18">
                    <c:v>22/09</c:v>
                  </c:pt>
                  <c:pt idx="19">
                    <c:v>23/09</c:v>
                  </c:pt>
                  <c:pt idx="20">
                    <c:v>24/09</c:v>
                  </c:pt>
                  <c:pt idx="21">
                    <c:v>25/09</c:v>
                  </c:pt>
                  <c:pt idx="22">
                    <c:v>26/09</c:v>
                  </c:pt>
                  <c:pt idx="23">
                    <c:v>27/09</c:v>
                  </c:pt>
                  <c:pt idx="24">
                    <c:v>28/09</c:v>
                  </c:pt>
                  <c:pt idx="25">
                    <c:v>29/09</c:v>
                  </c:pt>
                  <c:pt idx="26">
                    <c:v>30/09</c:v>
                  </c:pt>
                  <c:pt idx="27">
                    <c:v>01/10</c:v>
                  </c:pt>
                  <c:pt idx="28">
                    <c:v>02/10</c:v>
                  </c:pt>
                  <c:pt idx="29">
                    <c:v>03/10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15</c:v>
                </c:pt>
                <c:pt idx="1">
                  <c:v>14</c:v>
                </c:pt>
                <c:pt idx="2">
                  <c:v>10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10</c:v>
                </c:pt>
                <c:pt idx="7">
                  <c:v>17</c:v>
                </c:pt>
                <c:pt idx="8">
                  <c:v>12</c:v>
                </c:pt>
                <c:pt idx="9">
                  <c:v>27</c:v>
                </c:pt>
                <c:pt idx="10">
                  <c:v>19</c:v>
                </c:pt>
                <c:pt idx="11">
                  <c:v>19</c:v>
                </c:pt>
                <c:pt idx="12">
                  <c:v>14</c:v>
                </c:pt>
                <c:pt idx="13">
                  <c:v>10</c:v>
                </c:pt>
                <c:pt idx="14">
                  <c:v>19</c:v>
                </c:pt>
                <c:pt idx="15">
                  <c:v>13</c:v>
                </c:pt>
                <c:pt idx="16">
                  <c:v>32</c:v>
                </c:pt>
                <c:pt idx="17">
                  <c:v>10</c:v>
                </c:pt>
                <c:pt idx="18">
                  <c:v>16</c:v>
                </c:pt>
                <c:pt idx="19">
                  <c:v>21</c:v>
                </c:pt>
                <c:pt idx="20">
                  <c:v>17</c:v>
                </c:pt>
                <c:pt idx="21">
                  <c:v>18</c:v>
                </c:pt>
                <c:pt idx="22">
                  <c:v>8</c:v>
                </c:pt>
                <c:pt idx="23">
                  <c:v>20</c:v>
                </c:pt>
                <c:pt idx="24">
                  <c:v>25</c:v>
                </c:pt>
                <c:pt idx="25">
                  <c:v>24</c:v>
                </c:pt>
                <c:pt idx="26">
                  <c:v>6</c:v>
                </c:pt>
                <c:pt idx="27">
                  <c:v>13</c:v>
                </c:pt>
                <c:pt idx="28">
                  <c:v>13</c:v>
                </c:pt>
                <c:pt idx="29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7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A37"/>
                </a:solidFill>
                <a:latin typeface="Calibri"/>
              </a:rPr>
              <a:t>NPS (−100 a +100)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</c:v>
                </c:pt>
              </c:strCache>
            </c:strRef>
          </c:tx>
          <c:spPr>
            <a:solidFill>
              <a:srgbClr val="1B8A5A"/>
            </a:solidFill>
            <a:effectLst/>
          </c:spPr>
          <c:invertIfNegative val="0"/>
          <c:dLbls>
            <c:numFmt formatCode="+0.0;-0.0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8A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7C0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7C0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São Paulo — Paulista</c:v>
                  </c:pt>
                  <c:pt idx="1">
                    <c:v>Rio — Barra</c:v>
                  </c:pt>
                  <c:pt idx="2">
                    <c:v>Belo Horizonte — Savassi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50.9</c:v>
                </c:pt>
                <c:pt idx="1">
                  <c:v>22</c:v>
                </c:pt>
                <c:pt idx="2">
                  <c:v>6.6</c:v>
                </c:pt>
              </c:numCache>
            </c:numRef>
          </c:val>
        </c:ser>
        <c:dLbls>
          <c:numFmt formatCode="+0.0;-0.0;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-10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1B8A5A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Em uma escala de 0 a 10, o quanto você recomendaria nossa…  (NPS +25,4)</c:v>
                  </c:pt>
                  <c:pt idx="1">
                    <c:v>De 0 a 10, qual a chance de você voltar a comprar conosco?  (NPS +29,2)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0.45416666666666666</c:v>
                </c:pt>
                <c:pt idx="1">
                  <c:v>0.5041666666666667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Neutros</c:v>
                </c:pt>
              </c:strCache>
            </c:strRef>
          </c:tx>
          <c:spPr>
            <a:solidFill>
              <a:srgbClr val="B8C2CC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Em uma escala de 0 a 10, o quanto você recomendaria nossa…  (NPS +25,4)</c:v>
                  </c:pt>
                  <c:pt idx="1">
                    <c:v>De 0 a 10, qual a chance de você voltar a comprar conosco?  (NPS +29,2)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0.3458333333333333</c:v>
                </c:pt>
                <c:pt idx="1">
                  <c:v>0.2833333333333333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Detratores</c:v>
                </c:pt>
              </c:strCache>
            </c:strRef>
          </c:tx>
          <c:spPr>
            <a:solidFill>
              <a:srgbClr val="D93F44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Em uma escala de 0 a 10, o quanto você recomendaria nossa…  (NPS +25,4)</c:v>
                  </c:pt>
                  <c:pt idx="1">
                    <c:v>De 0 a 10, qual a chance de você voltar a comprar conosco?  (NPS +29,2)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</c:v>
                </c:pt>
                <c:pt idx="1">
                  <c:v>0.2125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Respostas</c:v>
                </c:pt>
              </c:strCache>
            </c:strRef>
          </c:tx>
          <c:spPr>
            <a:solidFill>
              <a:srgbClr val="0F3D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Péssimo</c:v>
                  </c:pt>
                  <c:pt idx="1">
                    <c:v>Ruim</c:v>
                  </c:pt>
                  <c:pt idx="2">
                    <c:v>Regular</c:v>
                  </c:pt>
                  <c:pt idx="3">
                    <c:v>Bom</c:v>
                  </c:pt>
                  <c:pt idx="4">
                    <c:v>Ótimo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36</c:v>
                </c:pt>
                <c:pt idx="2">
                  <c:v>47</c:v>
                </c:pt>
                <c:pt idx="3">
                  <c:v>162</c:v>
                </c:pt>
                <c:pt idx="4">
                  <c:v>220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Respostas</c:v>
                </c:pt>
              </c:strCache>
            </c:strRef>
          </c:tx>
          <c:spPr>
            <a:solidFill>
              <a:srgbClr val="0F3D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Atendimento</c:v>
                  </c:pt>
                  <c:pt idx="1">
                    <c:v>Preço</c:v>
                  </c:pt>
                  <c:pt idx="2">
                    <c:v>Tempo de espera</c:v>
                  </c:pt>
                  <c:pt idx="3">
                    <c:v>Variedade de produtos</c:v>
                  </c:pt>
                  <c:pt idx="4">
                    <c:v>Ambiente da loja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194</c:v>
                </c:pt>
                <c:pt idx="1">
                  <c:v>180</c:v>
                </c:pt>
                <c:pt idx="2">
                  <c:v>164</c:v>
                </c:pt>
                <c:pt idx="3">
                  <c:v>167</c:v>
                </c:pt>
                <c:pt idx="4">
                  <c:v>153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Respostas</c:v>
                </c:pt>
              </c:strCache>
            </c:strRef>
          </c:tx>
          <c:spPr>
            <a:solidFill>
              <a:srgbClr val="0F3D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Sim</c:v>
                  </c:pt>
                  <c:pt idx="1">
                    <c:v>Não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406</c:v>
                </c:pt>
                <c:pt idx="1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F3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0"/>
            <a:ext cx="8686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8686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89985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Sol Supermercados  ·  04/09/2026 a 03/10/2026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1375" y="463296"/>
            <a:ext cx="2011680" cy="5364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chart" Target="/ppt/charts/chart17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ndo da logo"/>
          <p:cNvSpPr/>
          <p:nvPr/>
        </p:nvSpPr>
        <p:spPr>
          <a:xfrm>
            <a:off x="548640" y="640080"/>
            <a:ext cx="292608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905256"/>
            <a:ext cx="2468880" cy="65836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2860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satisfação e NPS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8620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Sol Supermercados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04/09/2026 a 03/10/2026  ·  Todas as filiais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em 03/10/2026</a:t>
            </a:r>
            <a:endParaRPr lang="en-US" sz="1800" dirty="0"/>
          </a:p>
        </p:txBody>
      </p:sp>
      <p:sp>
        <p:nvSpPr>
          <p:cNvPr id="6" name="Selo NPS"/>
          <p:cNvSpPr/>
          <p:nvPr/>
        </p:nvSpPr>
        <p:spPr>
          <a:xfrm>
            <a:off x="9265615" y="2194560"/>
            <a:ext cx="2377440" cy="2377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21945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+27,3</a:t>
            </a:r>
            <a:endParaRPr lang="en-US" sz="4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899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período</a:t>
            </a:r>
            <a:endParaRPr lang="en-US" sz="3000" dirty="0"/>
          </a:p>
        </p:txBody>
      </p:sp>
      <p:sp>
        <p:nvSpPr>
          <p:cNvPr id="3" name="Indicador NPS"/>
          <p:cNvSpPr/>
          <p:nvPr/>
        </p:nvSpPr>
        <p:spPr>
          <a:xfrm>
            <a:off x="548640" y="13716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</a:rPr>
              <a:t>NPS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7C0E"/>
                </a:solidFill>
              </a:rPr>
              <a:t>+27,3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960 notas de NPS</a:t>
            </a:r>
            <a:endParaRPr lang="en-US" sz="1200" dirty="0"/>
          </a:p>
        </p:txBody>
      </p:sp>
      <p:sp>
        <p:nvSpPr>
          <p:cNvPr id="7" name="Indicador Respostas"/>
          <p:cNvSpPr/>
          <p:nvPr/>
        </p:nvSpPr>
        <p:spPr>
          <a:xfrm>
            <a:off x="3390824" y="13716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65144" y="15087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</a:rPr>
              <a:t>RESPOSTAS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65144" y="182880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A37"/>
                </a:solidFill>
              </a:rPr>
              <a:t>480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665144" y="26517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pesquisas concluídas</a:t>
            </a:r>
            <a:endParaRPr lang="en-US" sz="1200" dirty="0"/>
          </a:p>
        </p:txBody>
      </p:sp>
      <p:sp>
        <p:nvSpPr>
          <p:cNvPr id="11" name="Indicador Promotores"/>
          <p:cNvSpPr/>
          <p:nvPr/>
        </p:nvSpPr>
        <p:spPr>
          <a:xfrm>
            <a:off x="6233008" y="13716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7328" y="15087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</a:rPr>
              <a:t>PROMOTORES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07328" y="182880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8A5A"/>
                </a:solidFill>
              </a:rPr>
              <a:t>48%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26517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notas 9 e 10</a:t>
            </a:r>
            <a:endParaRPr lang="en-US" sz="1200" dirty="0"/>
          </a:p>
        </p:txBody>
      </p:sp>
      <p:sp>
        <p:nvSpPr>
          <p:cNvPr id="15" name="Indicador Detratores"/>
          <p:cNvSpPr/>
          <p:nvPr/>
        </p:nvSpPr>
        <p:spPr>
          <a:xfrm>
            <a:off x="9075191" y="1371600"/>
            <a:ext cx="2567864" cy="173736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49511" y="15087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</a:rPr>
              <a:t>DETRATORES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349511" y="182880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3F44"/>
                </a:solidFill>
              </a:rPr>
              <a:t>21%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349511" y="26517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notas de 0 a 6</a:t>
            </a:r>
            <a:endParaRPr lang="en-US" sz="1200" dirty="0"/>
          </a:p>
        </p:txBody>
      </p:sp>
      <p:graphicFrame>
        <p:nvGraphicFramePr>
          <p:cNvPr id="19" name="Composição" descr=""/>
          <p:cNvGraphicFramePr/>
          <p:nvPr/>
        </p:nvGraphicFramePr>
        <p:xfrm>
          <a:off x="548640" y="3429000"/>
          <a:ext cx="676656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Destaques"/>
          <p:cNvSpPr/>
          <p:nvPr/>
        </p:nvSpPr>
        <p:spPr>
          <a:xfrm>
            <a:off x="7635240" y="3429000"/>
            <a:ext cx="4007815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63840" y="3566160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Destaques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863840" y="3977640"/>
            <a:ext cx="35506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</a:rPr>
              <a:t>Melhor filial: São Paulo — Paulista (NPS +50,9)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</a:rPr>
              <a:t>Maior atenção: Belo Horizonte — Savassi (NPS +6,6)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</a:rPr>
              <a:t>Dia com mais respostas: 20/09/2026 (32)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899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das notas de 0 a 10</a:t>
            </a:r>
            <a:endParaRPr lang="en-US" sz="3000" dirty="0"/>
          </a:p>
        </p:txBody>
      </p:sp>
      <p:graphicFrame>
        <p:nvGraphicFramePr>
          <p:cNvPr id="3" name="Distribuição das notas" descr=""/>
          <p:cNvGraphicFramePr/>
          <p:nvPr/>
        </p:nvGraphicFramePr>
        <p:xfrm>
          <a:off x="548640" y="1280160"/>
          <a:ext cx="11094415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899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diária</a:t>
            </a:r>
            <a:endParaRPr lang="en-US" sz="3000" dirty="0"/>
          </a:p>
        </p:txBody>
      </p:sp>
      <p:graphicFrame>
        <p:nvGraphicFramePr>
          <p:cNvPr id="3" name="NPS por dia" descr=""/>
          <p:cNvGraphicFramePr/>
          <p:nvPr/>
        </p:nvGraphicFramePr>
        <p:xfrm>
          <a:off x="548640" y="1234440"/>
          <a:ext cx="11094415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Respostas por dia" descr=""/>
          <p:cNvGraphicFramePr/>
          <p:nvPr/>
        </p:nvGraphicFramePr>
        <p:xfrm>
          <a:off x="548640" y="4343400"/>
          <a:ext cx="11094415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899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por filial</a:t>
            </a:r>
            <a:endParaRPr lang="en-US" sz="3000" dirty="0"/>
          </a:p>
        </p:txBody>
      </p:sp>
      <p:graphicFrame>
        <p:nvGraphicFramePr>
          <p:cNvPr id="3" name="NPS por filial" descr=""/>
          <p:cNvGraphicFramePr/>
          <p:nvPr/>
        </p:nvGraphicFramePr>
        <p:xfrm>
          <a:off x="548640" y="1280160"/>
          <a:ext cx="5212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ela de filiai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325880"/>
          <a:ext cx="569945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005840"/>
                <a:gridCol w="1188720"/>
                <a:gridCol w="1188720"/>
                <a:gridCol w="89885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Detratores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Paulo — Paulista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Rio — Barra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7C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 Horizonte — Savassi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7C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899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por pergunta marcada</a:t>
            </a:r>
            <a:endParaRPr lang="en-US" sz="3000" dirty="0"/>
          </a:p>
        </p:txBody>
      </p:sp>
      <p:graphicFrame>
        <p:nvGraphicFramePr>
          <p:cNvPr id="3" name="NPS por pergunta" descr=""/>
          <p:cNvGraphicFramePr/>
          <p:nvPr/>
        </p:nvGraphicFramePr>
        <p:xfrm>
          <a:off x="548640" y="1280160"/>
          <a:ext cx="11094415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899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clientes responderam</a:t>
            </a:r>
            <a:endParaRPr lang="en-US" sz="3000" dirty="0"/>
          </a:p>
        </p:txBody>
      </p:sp>
      <p:sp>
        <p:nvSpPr>
          <p:cNvPr id="3" name="Fundo pergunta 1"/>
          <p:cNvSpPr/>
          <p:nvPr/>
        </p:nvSpPr>
        <p:spPr>
          <a:xfrm>
            <a:off x="548640" y="1280160"/>
            <a:ext cx="5410048" cy="493776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Como você avalia o atendimento da nossa equipe?</a:t>
            </a:r>
            <a:endParaRPr lang="en-US" sz="1500" dirty="0"/>
          </a:p>
        </p:txBody>
      </p:sp>
      <p:graphicFrame>
        <p:nvGraphicFramePr>
          <p:cNvPr id="5" name="Gráfico pergunta 1" descr=""/>
          <p:cNvGraphicFramePr/>
          <p:nvPr/>
        </p:nvGraphicFramePr>
        <p:xfrm>
          <a:off x="731520" y="2148840"/>
          <a:ext cx="5044288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Fundo pergunta 2"/>
          <p:cNvSpPr/>
          <p:nvPr/>
        </p:nvSpPr>
        <p:spPr>
          <a:xfrm>
            <a:off x="6233008" y="1280160"/>
            <a:ext cx="5410048" cy="493776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07328" y="141732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O que mais influenciou sua nota?</a:t>
            </a:r>
            <a:endParaRPr lang="en-US" sz="1500" dirty="0"/>
          </a:p>
        </p:txBody>
      </p:sp>
      <p:graphicFrame>
        <p:nvGraphicFramePr>
          <p:cNvPr id="8" name="Gráfico pergunta 2" descr=""/>
          <p:cNvGraphicFramePr/>
          <p:nvPr/>
        </p:nvGraphicFramePr>
        <p:xfrm>
          <a:off x="6415888" y="2148840"/>
          <a:ext cx="5044288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899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clientes responderam</a:t>
            </a:r>
            <a:endParaRPr lang="en-US" sz="3000" dirty="0"/>
          </a:p>
        </p:txBody>
      </p:sp>
      <p:sp>
        <p:nvSpPr>
          <p:cNvPr id="3" name="Fundo pergunta 3"/>
          <p:cNvSpPr/>
          <p:nvPr/>
        </p:nvSpPr>
        <p:spPr>
          <a:xfrm>
            <a:off x="548640" y="1280160"/>
            <a:ext cx="5410048" cy="493776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Você encontrou tudo o que procurava?</a:t>
            </a:r>
            <a:endParaRPr lang="en-US" sz="1500" dirty="0"/>
          </a:p>
        </p:txBody>
      </p:sp>
      <p:graphicFrame>
        <p:nvGraphicFramePr>
          <p:cNvPr id="5" name="Gráfico pergunta 3" descr=""/>
          <p:cNvGraphicFramePr/>
          <p:nvPr/>
        </p:nvGraphicFramePr>
        <p:xfrm>
          <a:off x="731520" y="2148840"/>
          <a:ext cx="5044288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899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clientes disseram</a:t>
            </a:r>
            <a:endParaRPr lang="en-US" sz="3000" dirty="0"/>
          </a:p>
        </p:txBody>
      </p:sp>
      <p:sp>
        <p:nvSpPr>
          <p:cNvPr id="3" name="Comentário 1"/>
          <p:cNvSpPr/>
          <p:nvPr/>
        </p:nvSpPr>
        <p:spPr>
          <a:xfrm>
            <a:off x="548640" y="1280160"/>
            <a:ext cx="5410048" cy="1051560"/>
          </a:xfrm>
          <a:prstGeom prst="roundRect">
            <a:avLst>
              <a:gd name="adj" fmla="val 1043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Aspas 1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37"/>
                </a:solidFill>
              </a:rPr>
              <a:t>“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7160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Preço bom, voltarei com certeza.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São Paulo — Paulista · 03/10/2026</a:t>
            </a:r>
            <a:endParaRPr lang="en-US" sz="1400" dirty="0"/>
          </a:p>
        </p:txBody>
      </p:sp>
      <p:sp>
        <p:nvSpPr>
          <p:cNvPr id="7" name="Comentário 2"/>
          <p:cNvSpPr/>
          <p:nvPr/>
        </p:nvSpPr>
        <p:spPr>
          <a:xfrm>
            <a:off x="6233008" y="1280160"/>
            <a:ext cx="5410048" cy="1051560"/>
          </a:xfrm>
          <a:prstGeom prst="roundRect">
            <a:avLst>
              <a:gd name="adj" fmla="val 1043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Aspas 2"/>
          <p:cNvSpPr/>
          <p:nvPr/>
        </p:nvSpPr>
        <p:spPr>
          <a:xfrm>
            <a:off x="6461608" y="1554480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160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37"/>
                </a:solidFill>
              </a:rPr>
              <a:t>“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01688" y="137160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Equipe simpática e rápida.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Rio — Barra · 03/10/2026</a:t>
            </a:r>
            <a:endParaRPr lang="en-US" sz="1400" dirty="0"/>
          </a:p>
        </p:txBody>
      </p:sp>
      <p:sp>
        <p:nvSpPr>
          <p:cNvPr id="11" name="Comentário 3"/>
          <p:cNvSpPr/>
          <p:nvPr/>
        </p:nvSpPr>
        <p:spPr>
          <a:xfrm>
            <a:off x="548640" y="2514600"/>
            <a:ext cx="5410048" cy="1051560"/>
          </a:xfrm>
          <a:prstGeom prst="roundRect">
            <a:avLst>
              <a:gd name="adj" fmla="val 1043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Aspas 3"/>
          <p:cNvSpPr/>
          <p:nvPr/>
        </p:nvSpPr>
        <p:spPr>
          <a:xfrm>
            <a:off x="777240" y="2788920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37"/>
                </a:solidFill>
              </a:rPr>
              <a:t>“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60604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Faltou o tamanho que eu queria.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Belo Horizonte — Savassi · 03/10/2026</a:t>
            </a:r>
            <a:endParaRPr lang="en-US" sz="1400" dirty="0"/>
          </a:p>
        </p:txBody>
      </p:sp>
      <p:sp>
        <p:nvSpPr>
          <p:cNvPr id="15" name="Comentário 4"/>
          <p:cNvSpPr/>
          <p:nvPr/>
        </p:nvSpPr>
        <p:spPr>
          <a:xfrm>
            <a:off x="6233008" y="2514600"/>
            <a:ext cx="5410048" cy="1051560"/>
          </a:xfrm>
          <a:prstGeom prst="roundRect">
            <a:avLst>
              <a:gd name="adj" fmla="val 1043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Aspas 4"/>
          <p:cNvSpPr/>
          <p:nvPr/>
        </p:nvSpPr>
        <p:spPr>
          <a:xfrm>
            <a:off x="6461608" y="2788920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1608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37"/>
                </a:solidFill>
              </a:rPr>
              <a:t>“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101688" y="260604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Preço bom, voltarei com certeza.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São Paulo — Paulista · 03/10/2026</a:t>
            </a:r>
            <a:endParaRPr lang="en-US" sz="1400" dirty="0"/>
          </a:p>
        </p:txBody>
      </p:sp>
      <p:sp>
        <p:nvSpPr>
          <p:cNvPr id="19" name="Comentário 5"/>
          <p:cNvSpPr/>
          <p:nvPr/>
        </p:nvSpPr>
        <p:spPr>
          <a:xfrm>
            <a:off x="548640" y="3749040"/>
            <a:ext cx="5410048" cy="1051560"/>
          </a:xfrm>
          <a:prstGeom prst="roundRect">
            <a:avLst>
              <a:gd name="adj" fmla="val 1043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Aspas 5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37"/>
                </a:solidFill>
              </a:rPr>
              <a:t>“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84048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Ar-condicionado estava fraco.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Belo Horizonte — Savassi · 03/10/2026</a:t>
            </a:r>
            <a:endParaRPr lang="en-US" sz="1400" dirty="0"/>
          </a:p>
        </p:txBody>
      </p:sp>
      <p:sp>
        <p:nvSpPr>
          <p:cNvPr id="23" name="Comentário 6"/>
          <p:cNvSpPr/>
          <p:nvPr/>
        </p:nvSpPr>
        <p:spPr>
          <a:xfrm>
            <a:off x="6233008" y="3749040"/>
            <a:ext cx="5410048" cy="1051560"/>
          </a:xfrm>
          <a:prstGeom prst="roundRect">
            <a:avLst>
              <a:gd name="adj" fmla="val 1043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Aspas 6"/>
          <p:cNvSpPr/>
          <p:nvPr/>
        </p:nvSpPr>
        <p:spPr>
          <a:xfrm>
            <a:off x="6461608" y="4023360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6160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37"/>
                </a:solidFill>
              </a:rPr>
              <a:t>“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101688" y="384048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Faltou o tamanho que eu queria.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Belo Horizonte — Savassi · 01/10/2026</a:t>
            </a:r>
            <a:endParaRPr lang="en-US" sz="1400" dirty="0"/>
          </a:p>
        </p:txBody>
      </p:sp>
      <p:sp>
        <p:nvSpPr>
          <p:cNvPr id="27" name="Comentário 7"/>
          <p:cNvSpPr/>
          <p:nvPr/>
        </p:nvSpPr>
        <p:spPr>
          <a:xfrm>
            <a:off x="548640" y="4983480"/>
            <a:ext cx="5410048" cy="1051560"/>
          </a:xfrm>
          <a:prstGeom prst="roundRect">
            <a:avLst>
              <a:gd name="adj" fmla="val 1043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Aspas 7"/>
          <p:cNvSpPr/>
          <p:nvPr/>
        </p:nvSpPr>
        <p:spPr>
          <a:xfrm>
            <a:off x="777240" y="5257800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37"/>
                </a:solidFill>
              </a:rPr>
              <a:t>“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507492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Fila do caixa muito demorada.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Belo Horizonte — Savassi · 01/10/2026</a:t>
            </a:r>
            <a:endParaRPr lang="en-US" sz="1400" dirty="0"/>
          </a:p>
        </p:txBody>
      </p:sp>
      <p:sp>
        <p:nvSpPr>
          <p:cNvPr id="31" name="Comentário 8"/>
          <p:cNvSpPr/>
          <p:nvPr/>
        </p:nvSpPr>
        <p:spPr>
          <a:xfrm>
            <a:off x="6233008" y="4983480"/>
            <a:ext cx="5410048" cy="1051560"/>
          </a:xfrm>
          <a:prstGeom prst="roundRect">
            <a:avLst>
              <a:gd name="adj" fmla="val 1043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Aspas 8"/>
          <p:cNvSpPr/>
          <p:nvPr/>
        </p:nvSpPr>
        <p:spPr>
          <a:xfrm>
            <a:off x="6461608" y="5257800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61608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37"/>
                </a:solidFill>
              </a:rPr>
              <a:t>“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7101688" y="507492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Atendimento excelente, a Ana foi muito atenciosa!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São Paulo — Paulista · 01/10/2026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Rede Sol Supermercados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de satisfação — Rede Sol Supermercados</dc:title>
  <dc:subject>PptxGenJS Presentation</dc:subject>
  <dc:creator>Administrador Demo</dc:creator>
  <cp:lastModifiedBy>Administrador Demo</cp:lastModifiedBy>
  <cp:revision>1</cp:revision>
  <dcterms:created xsi:type="dcterms:W3CDTF">2026-10-03T23:10:56Z</dcterms:created>
  <dcterms:modified xsi:type="dcterms:W3CDTF">2026-10-03T23:10:56Z</dcterms:modified>
</cp:coreProperties>
</file>